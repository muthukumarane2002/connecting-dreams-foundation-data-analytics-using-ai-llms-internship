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4"/>
  </p:notesMasterIdLst>
  <p:handoutMasterIdLst>
    <p:handoutMasterId r:id="rId15"/>
  </p:handoutMasterIdLst>
  <p:sldIdLst>
    <p:sldId id="338" r:id="rId5"/>
    <p:sldId id="327" r:id="rId6"/>
    <p:sldId id="315" r:id="rId7"/>
    <p:sldId id="329" r:id="rId8"/>
    <p:sldId id="302" r:id="rId9"/>
    <p:sldId id="340" r:id="rId10"/>
    <p:sldId id="339" r:id="rId11"/>
    <p:sldId id="341" r:id="rId12"/>
    <p:sldId id="30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D9D9D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7094" autoAdjust="0"/>
    <p:restoredTop sz="95033" autoAdjust="0"/>
  </p:normalViewPr>
  <p:slideViewPr>
    <p:cSldViewPr snapToGrid="0">
      <p:cViewPr varScale="1">
        <p:scale>
          <a:sx n="69" d="100"/>
          <a:sy n="69" d="100"/>
        </p:scale>
        <p:origin x="-480" y="-68"/>
      </p:cViewPr>
      <p:guideLst>
        <p:guide orient="horz" pos="1968"/>
        <p:guide orient="horz" pos="3912"/>
        <p:guide orient="horz" pos="1656"/>
        <p:guide pos="408"/>
        <p:guide pos="7272"/>
      </p:guideLst>
    </p:cSldViewPr>
  </p:slideViewPr>
  <p:outlineViewPr>
    <p:cViewPr>
      <p:scale>
        <a:sx n="33" d="100"/>
        <a:sy n="33" d="100"/>
      </p:scale>
      <p:origin x="0" y="0"/>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pPr/>
              <a:t>11/17/2024</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pPr/>
              <a:t>‹#›</a:t>
            </a:fld>
            <a:endParaRPr lang="en-US" dirty="0"/>
          </a:p>
        </p:txBody>
      </p:sp>
    </p:spTree>
    <p:extLst>
      <p:ext uri="{BB962C8B-B14F-4D97-AF65-F5344CB8AC3E}">
        <p14:creationId xmlns:p14="http://schemas.microsoft.com/office/powerpoint/2010/main" xmlns=""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pPr/>
              <a:t>11/17/2024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pPr/>
              <a:t>‹#›</a:t>
            </a:fld>
            <a:endParaRPr lang="en-US" noProof="0" dirty="0"/>
          </a:p>
        </p:txBody>
      </p:sp>
    </p:spTree>
    <p:extLst>
      <p:ext uri="{BB962C8B-B14F-4D97-AF65-F5344CB8AC3E}">
        <p14:creationId xmlns:p14="http://schemas.microsoft.com/office/powerpoint/2010/main" xmlns=""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5</a:t>
            </a:fld>
            <a:endParaRPr lang="en-US" noProof="0" dirty="0"/>
          </a:p>
        </p:txBody>
      </p:sp>
    </p:spTree>
    <p:extLst>
      <p:ext uri="{BB962C8B-B14F-4D97-AF65-F5344CB8AC3E}">
        <p14:creationId xmlns:p14="http://schemas.microsoft.com/office/powerpoint/2010/main" xmlns=""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pPr/>
              <a:t>11/17/2024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extLst>
      <p:ext uri="{BB962C8B-B14F-4D97-AF65-F5344CB8AC3E}">
        <p14:creationId xmlns:p14="http://schemas.microsoft.com/office/powerpoint/2010/main" xmlns=""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11/17/2024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xmlns=""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11/17/2024</a:t>
            </a:fld>
            <a:endParaRPr lang="en-US" dirty="0"/>
          </a:p>
        </p:txBody>
      </p:sp>
    </p:spTree>
    <p:extLst>
      <p:ext uri="{BB962C8B-B14F-4D97-AF65-F5344CB8AC3E}">
        <p14:creationId xmlns:p14="http://schemas.microsoft.com/office/powerpoint/2010/main" xmlns=""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p14="http://schemas.microsoft.com/office/powerpoint/2010/main" xmlns=""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xmlns=""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xmlns=""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xmlns=""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11/17/2024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11/17/2024</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xmlns=""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5804871" y="4141999"/>
            <a:ext cx="4364365" cy="861497"/>
          </a:xfrm>
          <a:ln>
            <a:noFill/>
          </a:ln>
        </p:spPr>
        <p:txBody>
          <a:bodyPr>
            <a:noAutofit/>
          </a:bodyPr>
          <a:lstStyle/>
          <a:p>
            <a:r>
              <a:rPr lang="en-US" sz="1800" b="0" dirty="0" smtClean="0">
                <a:solidFill>
                  <a:schemeClr val="tx1"/>
                </a:solidFill>
                <a:latin typeface="Arial" pitchFamily="34" charset="0"/>
                <a:cs typeface="Arial" pitchFamily="34" charset="0"/>
              </a:rPr>
              <a:t>MUTHUKUMARAN E,</a:t>
            </a:r>
            <a:endParaRPr lang="en-US" sz="1800" b="0" dirty="0" smtClean="0">
              <a:solidFill>
                <a:schemeClr val="tx1"/>
              </a:solidFill>
              <a:latin typeface="Arial" pitchFamily="34" charset="0"/>
              <a:cs typeface="Arial" pitchFamily="34" charset="0"/>
            </a:endParaRPr>
          </a:p>
          <a:p>
            <a:r>
              <a:rPr lang="en-US" sz="1800" dirty="0" smtClean="0">
                <a:solidFill>
                  <a:schemeClr val="tx1"/>
                </a:solidFill>
                <a:latin typeface="Arial" pitchFamily="34" charset="0"/>
                <a:cs typeface="Arial" pitchFamily="34" charset="0"/>
              </a:rPr>
              <a:t>APPLY_172677326666ec7812bb3ed</a:t>
            </a:r>
            <a:r>
              <a:rPr lang="en-US" sz="1800" b="0" dirty="0" smtClean="0">
                <a:solidFill>
                  <a:schemeClr val="tx1"/>
                </a:solidFill>
                <a:latin typeface="Arial" pitchFamily="34" charset="0"/>
                <a:cs typeface="Arial" pitchFamily="34" charset="0"/>
              </a:rPr>
              <a:t>,</a:t>
            </a:r>
            <a:endParaRPr lang="en-US" sz="1800" b="0" dirty="0" smtClean="0">
              <a:solidFill>
                <a:schemeClr val="tx1"/>
              </a:solidFill>
              <a:latin typeface="Arial" pitchFamily="34" charset="0"/>
              <a:cs typeface="Arial" pitchFamily="34" charset="0"/>
            </a:endParaRPr>
          </a:p>
          <a:p>
            <a:r>
              <a:rPr lang="en-US" sz="1800" b="0" dirty="0" smtClean="0">
                <a:solidFill>
                  <a:schemeClr val="tx1"/>
                </a:solidFill>
                <a:latin typeface="Arial" pitchFamily="34" charset="0"/>
                <a:cs typeface="Arial" pitchFamily="34" charset="0"/>
              </a:rPr>
              <a:t>PERIYAR  UNIVERSITY,</a:t>
            </a:r>
          </a:p>
          <a:p>
            <a:r>
              <a:rPr lang="en-US" sz="1800" b="0" dirty="0" smtClean="0">
                <a:solidFill>
                  <a:schemeClr val="tx1"/>
                </a:solidFill>
                <a:latin typeface="Arial" pitchFamily="34" charset="0"/>
                <a:cs typeface="Arial" pitchFamily="34" charset="0"/>
              </a:rPr>
              <a:t>DEPARTMENT OF STATISTICS,</a:t>
            </a:r>
            <a:endParaRPr lang="en-US" sz="1800" b="0" dirty="0" smtClean="0">
              <a:solidFill>
                <a:schemeClr val="tx1"/>
              </a:solidFill>
              <a:latin typeface="Arial" pitchFamily="34" charset="0"/>
              <a:cs typeface="Arial" pitchFamily="34" charset="0"/>
            </a:endParaRPr>
          </a:p>
          <a:p>
            <a:r>
              <a:rPr lang="en-US" sz="1800" b="0" dirty="0" err="1" smtClean="0">
                <a:solidFill>
                  <a:schemeClr val="tx1"/>
                </a:solidFill>
                <a:latin typeface="Arial" pitchFamily="34" charset="0"/>
                <a:cs typeface="Arial" pitchFamily="34" charset="0"/>
              </a:rPr>
              <a:t>II.M.Sc.Statistics</a:t>
            </a:r>
            <a:r>
              <a:rPr lang="en-US" b="0" dirty="0" smtClean="0">
                <a:solidFill>
                  <a:schemeClr val="tx1"/>
                </a:solidFill>
              </a:rPr>
              <a:t>.</a:t>
            </a:r>
            <a:r>
              <a:rPr lang="en-US" b="0" dirty="0" smtClean="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2636797" y="2992662"/>
            <a:ext cx="4998720" cy="743448"/>
          </a:xfrm>
        </p:spPr>
        <p:txBody>
          <a:bodyPr>
            <a:normAutofit/>
          </a:bodyPr>
          <a:lstStyle/>
          <a:p>
            <a:r>
              <a:rPr lang="en-US" sz="3600" dirty="0" smtClean="0"/>
              <a:t>Doctor Visits Analysis</a:t>
            </a:r>
            <a:endParaRPr lang="en-IN" sz="36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871855" y="2978728"/>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xmlns=""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47" dur="500"/>
                                        <p:tgtEl>
                                          <p:spTgt spid="2">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5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852516" y="2124938"/>
            <a:ext cx="6431280" cy="3607987"/>
          </a:xfrm>
        </p:spPr>
        <p:txBody>
          <a:bodyPr>
            <a:normAutofit fontScale="47500" lnSpcReduction="20000"/>
          </a:bodyPr>
          <a:lstStyle/>
          <a:p>
            <a:pPr>
              <a:buNone/>
            </a:pPr>
            <a:r>
              <a:rPr lang="en-US" sz="3100" dirty="0" smtClean="0"/>
              <a:t>      </a:t>
            </a:r>
            <a:r>
              <a:rPr lang="en-US" sz="4500" dirty="0" smtClean="0"/>
              <a:t>The </a:t>
            </a:r>
            <a:r>
              <a:rPr lang="en-US" sz="4500" dirty="0" smtClean="0"/>
              <a:t>aim of this project is to analyze a </a:t>
            </a:r>
            <a:r>
              <a:rPr lang="en-US" sz="4500" dirty="0" smtClean="0"/>
              <a:t>dataset containing </a:t>
            </a:r>
            <a:r>
              <a:rPr lang="en-US" sz="4500" dirty="0" smtClean="0"/>
              <a:t>information about </a:t>
            </a:r>
            <a:r>
              <a:rPr lang="en-US" sz="4500" dirty="0" smtClean="0"/>
              <a:t>individual’s doctor </a:t>
            </a:r>
            <a:r>
              <a:rPr lang="en-US" sz="4500" dirty="0" smtClean="0"/>
              <a:t>visits, health conditions, and socio-economic factors. The objectives include:</a:t>
            </a:r>
          </a:p>
          <a:p>
            <a:r>
              <a:rPr lang="en-US" sz="4500" dirty="0" smtClean="0"/>
              <a:t>Identifying </a:t>
            </a:r>
            <a:r>
              <a:rPr lang="en-US" sz="4500" dirty="0" smtClean="0"/>
              <a:t>patterns in illnesses, income, and healthcare visits.</a:t>
            </a:r>
          </a:p>
          <a:p>
            <a:r>
              <a:rPr lang="en-US" sz="4500" dirty="0" smtClean="0"/>
              <a:t>Exploring </a:t>
            </a:r>
            <a:r>
              <a:rPr lang="en-US" sz="4500" dirty="0" smtClean="0"/>
              <a:t>gender-based differences in health conditions and reduced activity days.</a:t>
            </a:r>
          </a:p>
          <a:p>
            <a:r>
              <a:rPr lang="en-US" sz="4500" dirty="0" smtClean="0"/>
              <a:t>Visualizing </a:t>
            </a:r>
            <a:r>
              <a:rPr lang="en-US" sz="4500" dirty="0" smtClean="0"/>
              <a:t>correlations between variables to gain insights into factors affecting doctor visits.</a:t>
            </a:r>
          </a:p>
          <a:p>
            <a:pPr>
              <a:lnSpc>
                <a:spcPct val="150000"/>
              </a:lnSpc>
            </a:pP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82311" y="882926"/>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xmlns=""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706581" y="952994"/>
            <a:ext cx="6276109" cy="830997"/>
          </a:xfrm>
        </p:spPr>
        <p:txBody>
          <a:bodyPr>
            <a:normAutofit fontScale="90000"/>
          </a:bodyPr>
          <a:lstStyle/>
          <a:p>
            <a:r>
              <a:rPr lang="en-GB" dirty="0" smtClean="0"/>
              <a:t>Project Description</a:t>
            </a:r>
            <a:br>
              <a:rPr lang="en-GB" dirty="0" smtClean="0"/>
            </a:br>
            <a:r>
              <a:rPr lang="en-GB" dirty="0"/>
              <a:t/>
            </a:r>
            <a:br>
              <a:rPr lang="en-GB"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8" name="TextBox 7"/>
          <p:cNvSpPr txBox="1"/>
          <p:nvPr/>
        </p:nvSpPr>
        <p:spPr>
          <a:xfrm>
            <a:off x="674254" y="2068945"/>
            <a:ext cx="9033164" cy="3985706"/>
          </a:xfrm>
          <a:prstGeom prst="rect">
            <a:avLst/>
          </a:prstGeom>
          <a:noFill/>
        </p:spPr>
        <p:txBody>
          <a:bodyPr wrap="square" rtlCol="0">
            <a:spAutoFit/>
          </a:bodyPr>
          <a:lstStyle/>
          <a:p>
            <a:r>
              <a:rPr lang="en-US" sz="2300" dirty="0" smtClean="0"/>
              <a:t>This project investigates how various factors, such as income, gender, health conditions, and insurance status, influence doctor visits</a:t>
            </a:r>
            <a:r>
              <a:rPr lang="en-US" sz="2300" dirty="0" smtClean="0"/>
              <a:t>.</a:t>
            </a:r>
          </a:p>
          <a:p>
            <a:r>
              <a:rPr lang="en-US" sz="2300" dirty="0" smtClean="0"/>
              <a:t> </a:t>
            </a:r>
            <a:r>
              <a:rPr lang="en-US" sz="2300" dirty="0" smtClean="0"/>
              <a:t>The dataset comprises 5,190 observations on 12 variables, including illness count, reduced activity days, and insurance status.</a:t>
            </a:r>
            <a:br>
              <a:rPr lang="en-US" sz="2300" dirty="0" smtClean="0"/>
            </a:br>
            <a:r>
              <a:rPr lang="en-US" sz="2300" dirty="0" smtClean="0"/>
              <a:t>Key tasks include</a:t>
            </a:r>
            <a:r>
              <a:rPr lang="en-US" sz="2300" dirty="0" smtClean="0"/>
              <a:t>:</a:t>
            </a:r>
            <a:endParaRPr lang="en-US" sz="2300" dirty="0" smtClean="0"/>
          </a:p>
          <a:p>
            <a:pPr>
              <a:buFont typeface="Arial" pitchFamily="34" charset="0"/>
              <a:buChar char="•"/>
            </a:pPr>
            <a:r>
              <a:rPr lang="en-US" sz="2300" dirty="0" smtClean="0"/>
              <a:t>Identifying duplicates and missing values.</a:t>
            </a:r>
          </a:p>
          <a:p>
            <a:pPr>
              <a:buFont typeface="Arial" pitchFamily="34" charset="0"/>
              <a:buChar char="•"/>
            </a:pPr>
            <a:r>
              <a:rPr lang="en-US" sz="2300" dirty="0" smtClean="0"/>
              <a:t>Analyzing illness patterns and their impact on activity reduction.</a:t>
            </a:r>
          </a:p>
          <a:p>
            <a:pPr>
              <a:buFont typeface="Arial" pitchFamily="34" charset="0"/>
              <a:buChar char="•"/>
            </a:pPr>
            <a:r>
              <a:rPr lang="en-US" sz="2300" dirty="0" smtClean="0"/>
              <a:t>Exploring income's effect on healthcare access and doctor visits.</a:t>
            </a:r>
          </a:p>
          <a:p>
            <a:pPr>
              <a:buFont typeface="Arial" pitchFamily="34" charset="0"/>
              <a:buChar char="•"/>
            </a:pPr>
            <a:endParaRPr lang="en-US" sz="2300" dirty="0"/>
          </a:p>
        </p:txBody>
      </p:sp>
    </p:spTree>
    <p:extLst>
      <p:ext uri="{BB962C8B-B14F-4D97-AF65-F5344CB8AC3E}">
        <p14:creationId xmlns:p14="http://schemas.microsoft.com/office/powerpoint/2010/main" xmlns=""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algn="just">
              <a:lnSpc>
                <a:spcPct val="150000"/>
              </a:lnSpc>
            </a:pPr>
            <a:r>
              <a:rPr lang="en-US" sz="3600" b="1" dirty="0" smtClean="0"/>
              <a:t>Healthcare Providers:</a:t>
            </a:r>
            <a:r>
              <a:rPr lang="en-US" sz="3600" dirty="0" smtClean="0"/>
              <a:t> To understand patient patterns and allocate resources effectively</a:t>
            </a:r>
            <a:r>
              <a:rPr lang="en-US" sz="3600" dirty="0" smtClean="0"/>
              <a:t>.</a:t>
            </a:r>
          </a:p>
          <a:p>
            <a:pPr algn="just">
              <a:lnSpc>
                <a:spcPct val="150000"/>
              </a:lnSpc>
            </a:pPr>
            <a:r>
              <a:rPr lang="en-US" sz="3600" b="1" dirty="0" smtClean="0"/>
              <a:t>Policy </a:t>
            </a:r>
            <a:r>
              <a:rPr lang="en-US" sz="3600" b="1" dirty="0" smtClean="0"/>
              <a:t>Makers:</a:t>
            </a:r>
            <a:r>
              <a:rPr lang="en-US" sz="3600" dirty="0" smtClean="0"/>
              <a:t> To identify gaps in healthcare access and devise insurance policies</a:t>
            </a:r>
            <a:r>
              <a:rPr lang="en-US" sz="3600" dirty="0" smtClean="0"/>
              <a:t>.</a:t>
            </a:r>
          </a:p>
          <a:p>
            <a:pPr algn="just">
              <a:lnSpc>
                <a:spcPct val="150000"/>
              </a:lnSpc>
            </a:pPr>
            <a:r>
              <a:rPr lang="en-US" sz="3600" b="1" dirty="0" smtClean="0"/>
              <a:t>Researchers </a:t>
            </a:r>
            <a:r>
              <a:rPr lang="en-US" sz="3600" b="1" dirty="0" smtClean="0"/>
              <a:t>and Analysts:</a:t>
            </a:r>
            <a:r>
              <a:rPr lang="en-US" sz="3600" dirty="0" smtClean="0"/>
              <a:t> To analyze correlations between socio-economic and health variables for academic studies.</a:t>
            </a:r>
            <a:endParaRPr lang="en-IN" sz="36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xmlns=""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806254" y="1423323"/>
            <a:ext cx="9027702" cy="5243448"/>
          </a:xfrm>
        </p:spPr>
        <p:txBody>
          <a:bodyPr/>
          <a:lstStyle/>
          <a:p>
            <a:r>
              <a:rPr lang="en-US" sz="2400" b="1" dirty="0" smtClean="0"/>
              <a:t>Programming Language:</a:t>
            </a:r>
            <a:r>
              <a:rPr lang="en-US" sz="2400" dirty="0" smtClean="0"/>
              <a:t> </a:t>
            </a:r>
            <a:r>
              <a:rPr lang="en-US" sz="2400" dirty="0" smtClean="0"/>
              <a:t>Python</a:t>
            </a:r>
          </a:p>
          <a:p>
            <a:pPr>
              <a:buNone/>
            </a:pPr>
            <a:r>
              <a:rPr lang="en-US" sz="2400" b="1" dirty="0" smtClean="0"/>
              <a:t>Libraries:</a:t>
            </a:r>
          </a:p>
          <a:p>
            <a:r>
              <a:rPr lang="en-US" sz="2400" b="1" dirty="0" smtClean="0"/>
              <a:t>Data </a:t>
            </a:r>
            <a:r>
              <a:rPr lang="en-US" sz="2400" b="1" dirty="0" smtClean="0"/>
              <a:t>Analysis and Cleaning:</a:t>
            </a:r>
            <a:r>
              <a:rPr lang="en-US" sz="2400" dirty="0" smtClean="0"/>
              <a:t> pandas, </a:t>
            </a:r>
            <a:r>
              <a:rPr lang="en-US" sz="2400" dirty="0" err="1" smtClean="0"/>
              <a:t>numpy</a:t>
            </a:r>
            <a:endParaRPr lang="en-US" sz="2400" dirty="0" smtClean="0"/>
          </a:p>
          <a:p>
            <a:r>
              <a:rPr lang="en-US" sz="2400" b="1" dirty="0" smtClean="0"/>
              <a:t>Visualization:</a:t>
            </a:r>
            <a:r>
              <a:rPr lang="en-US" sz="2400" dirty="0" smtClean="0"/>
              <a:t> </a:t>
            </a:r>
            <a:r>
              <a:rPr lang="en-US" sz="2400" dirty="0" err="1" smtClean="0"/>
              <a:t>matplotlib</a:t>
            </a:r>
            <a:r>
              <a:rPr lang="en-US" sz="2400" dirty="0" smtClean="0"/>
              <a:t>, </a:t>
            </a:r>
            <a:r>
              <a:rPr lang="en-US" sz="2400" dirty="0" err="1" smtClean="0"/>
              <a:t>seaborn</a:t>
            </a:r>
            <a:endParaRPr lang="en-US" sz="2400" dirty="0" smtClean="0"/>
          </a:p>
          <a:p>
            <a:pPr lvl="1">
              <a:lnSpc>
                <a:spcPct val="150000"/>
              </a:lnSpc>
            </a:pPr>
            <a:endParaRPr lang="en-IN"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smtClean="0"/>
              <a:t>Technology Used</a:t>
            </a:r>
            <a:endParaRPr lang="en-US" dirty="0"/>
          </a:p>
        </p:txBody>
      </p:sp>
    </p:spTree>
    <p:extLst>
      <p:ext uri="{BB962C8B-B14F-4D97-AF65-F5344CB8AC3E}">
        <p14:creationId xmlns:p14="http://schemas.microsoft.com/office/powerpoint/2010/main" xmlns=""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1093492" y="1219257"/>
            <a:ext cx="4275138" cy="477520"/>
          </a:xfrm>
        </p:spPr>
        <p:txBody>
          <a:bodyPr/>
          <a:lstStyle/>
          <a:p>
            <a:pPr marL="0" indent="0">
              <a:buNone/>
            </a:pPr>
            <a:r>
              <a:rPr lang="en-IN" dirty="0" smtClean="0"/>
              <a:t>1.</a:t>
            </a:r>
            <a:r>
              <a:rPr lang="en-US" dirty="0" smtClean="0"/>
              <a:t> Income vs. Hospital Visits</a:t>
            </a:r>
            <a:endParaRPr lang="en-IN" dirty="0"/>
          </a:p>
        </p:txBody>
      </p:sp>
      <p:pic>
        <p:nvPicPr>
          <p:cNvPr id="11" name="Picture 10" descr="Screenshot (139).png"/>
          <p:cNvPicPr>
            <a:picLocks noChangeAspect="1"/>
          </p:cNvPicPr>
          <p:nvPr/>
        </p:nvPicPr>
        <p:blipFill>
          <a:blip r:embed="rId3"/>
          <a:stretch>
            <a:fillRect/>
          </a:stretch>
        </p:blipFill>
        <p:spPr>
          <a:xfrm>
            <a:off x="1580450" y="1690255"/>
            <a:ext cx="5984231" cy="3846946"/>
          </a:xfrm>
          <a:prstGeom prst="rect">
            <a:avLst/>
          </a:prstGeom>
        </p:spPr>
      </p:pic>
      <p:sp>
        <p:nvSpPr>
          <p:cNvPr id="12" name="TextBox 11"/>
          <p:cNvSpPr txBox="1"/>
          <p:nvPr/>
        </p:nvSpPr>
        <p:spPr>
          <a:xfrm>
            <a:off x="1403926" y="5791200"/>
            <a:ext cx="6927273" cy="769441"/>
          </a:xfrm>
          <a:prstGeom prst="rect">
            <a:avLst/>
          </a:prstGeom>
          <a:noFill/>
        </p:spPr>
        <p:txBody>
          <a:bodyPr wrap="square" rtlCol="0">
            <a:spAutoFit/>
          </a:bodyPr>
          <a:lstStyle/>
          <a:p>
            <a:r>
              <a:rPr lang="en-US" sz="1100" dirty="0" smtClean="0"/>
              <a:t>The scatter plot shows the relationship between income and the number of hospital visits for both males and females. There seems to be a slight positive correlation between income and the number of visits. However, the relationship is not very strong, and there is a lot of overlap between the data points for males and females.</a:t>
            </a:r>
            <a:endParaRPr lang="en-US" sz="1100" dirty="0"/>
          </a:p>
        </p:txBody>
      </p:sp>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1795454" y="5532638"/>
            <a:ext cx="6738946" cy="477520"/>
          </a:xfrm>
        </p:spPr>
        <p:txBody>
          <a:bodyPr>
            <a:normAutofit fontScale="70000" lnSpcReduction="20000"/>
          </a:bodyPr>
          <a:lstStyle/>
          <a:p>
            <a:pPr marL="0" indent="0">
              <a:buNone/>
            </a:pPr>
            <a:r>
              <a:rPr lang="en-US" dirty="0" smtClean="0"/>
              <a:t>The bar plot shows that females have more reduced activity days than males.</a:t>
            </a:r>
            <a:endParaRPr lang="en-IN" dirty="0"/>
          </a:p>
        </p:txBody>
      </p:sp>
      <p:pic>
        <p:nvPicPr>
          <p:cNvPr id="11" name="Picture 10" descr="Screenshot (137).png"/>
          <p:cNvPicPr>
            <a:picLocks noChangeAspect="1"/>
          </p:cNvPicPr>
          <p:nvPr/>
        </p:nvPicPr>
        <p:blipFill>
          <a:blip r:embed="rId3"/>
          <a:stretch>
            <a:fillRect/>
          </a:stretch>
        </p:blipFill>
        <p:spPr>
          <a:xfrm>
            <a:off x="1459345" y="1666737"/>
            <a:ext cx="5920510" cy="3525908"/>
          </a:xfrm>
          <a:prstGeom prst="rect">
            <a:avLst/>
          </a:prstGeom>
        </p:spPr>
      </p:pic>
      <p:sp>
        <p:nvSpPr>
          <p:cNvPr id="12" name="TextBox 11"/>
          <p:cNvSpPr txBox="1"/>
          <p:nvPr/>
        </p:nvSpPr>
        <p:spPr>
          <a:xfrm>
            <a:off x="905164" y="1191491"/>
            <a:ext cx="7195127" cy="646331"/>
          </a:xfrm>
          <a:prstGeom prst="rect">
            <a:avLst/>
          </a:prstGeom>
          <a:noFill/>
        </p:spPr>
        <p:txBody>
          <a:bodyPr wrap="square" rtlCol="0">
            <a:spAutoFit/>
          </a:bodyPr>
          <a:lstStyle/>
          <a:p>
            <a:r>
              <a:rPr lang="en-US" dirty="0" smtClean="0"/>
              <a:t>2.</a:t>
            </a:r>
            <a:r>
              <a:rPr lang="en-US" dirty="0" smtClean="0"/>
              <a:t> Reduced Activity Days by Gender</a:t>
            </a:r>
          </a:p>
          <a:p>
            <a:endParaRPr lang="en-US" dirty="0"/>
          </a:p>
        </p:txBody>
      </p:sp>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844109" y="1191547"/>
            <a:ext cx="4275138" cy="477520"/>
          </a:xfrm>
        </p:spPr>
        <p:txBody>
          <a:bodyPr/>
          <a:lstStyle/>
          <a:p>
            <a:pPr marL="0" indent="0">
              <a:buNone/>
            </a:pPr>
            <a:r>
              <a:rPr lang="en-US" dirty="0" smtClean="0"/>
              <a:t>3. Correlation </a:t>
            </a:r>
            <a:r>
              <a:rPr lang="en-US" dirty="0" err="1" smtClean="0"/>
              <a:t>Heatmap</a:t>
            </a:r>
            <a:r>
              <a:rPr lang="en-US" dirty="0" smtClean="0"/>
              <a:t> </a:t>
            </a:r>
            <a:endParaRPr lang="en-IN" dirty="0"/>
          </a:p>
        </p:txBody>
      </p:sp>
      <p:pic>
        <p:nvPicPr>
          <p:cNvPr id="12" name="Picture 11" descr="Screenshot (138).png"/>
          <p:cNvPicPr>
            <a:picLocks noChangeAspect="1"/>
          </p:cNvPicPr>
          <p:nvPr/>
        </p:nvPicPr>
        <p:blipFill>
          <a:blip r:embed="rId3"/>
          <a:stretch>
            <a:fillRect/>
          </a:stretch>
        </p:blipFill>
        <p:spPr>
          <a:xfrm>
            <a:off x="1154546" y="1625600"/>
            <a:ext cx="6714837" cy="3934692"/>
          </a:xfrm>
          <a:prstGeom prst="rect">
            <a:avLst/>
          </a:prstGeom>
        </p:spPr>
      </p:pic>
      <p:sp>
        <p:nvSpPr>
          <p:cNvPr id="13" name="TextBox 12"/>
          <p:cNvSpPr txBox="1"/>
          <p:nvPr/>
        </p:nvSpPr>
        <p:spPr>
          <a:xfrm>
            <a:off x="1034473" y="5671127"/>
            <a:ext cx="7407563" cy="769441"/>
          </a:xfrm>
          <a:prstGeom prst="rect">
            <a:avLst/>
          </a:prstGeom>
          <a:noFill/>
        </p:spPr>
        <p:txBody>
          <a:bodyPr wrap="square" rtlCol="0">
            <a:spAutoFit/>
          </a:bodyPr>
          <a:lstStyle/>
          <a:p>
            <a:r>
              <a:rPr lang="en-US" sz="1100" dirty="0" smtClean="0"/>
              <a:t>The </a:t>
            </a:r>
            <a:r>
              <a:rPr lang="en-US" sz="1100" dirty="0" err="1" smtClean="0"/>
              <a:t>heatmap</a:t>
            </a:r>
            <a:r>
              <a:rPr lang="en-US" sz="1100" dirty="0" smtClean="0"/>
              <a:t> shows the correlation between different numerical variables in the dataset. The color intensity represents the strength of the correlation, with red indicating positive correlation and blue indicating negative correlation. For example, reduced activity days have a strong positive correlation with illness, meaning that as the number of illnesses increases, the number of reduced activity days also increases.</a:t>
            </a:r>
            <a:endParaRPr lang="en-US" sz="1100" dirty="0"/>
          </a:p>
        </p:txBody>
      </p:sp>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0" y="2733964"/>
            <a:ext cx="11340000" cy="1135377"/>
          </a:xfrm>
          <a:prstGeom prst="rect">
            <a:avLst/>
          </a:prstGeom>
        </p:spPr>
        <p:txBody>
          <a:bodyPr anchor="ctr">
            <a:noAutofit/>
          </a:bodyPr>
          <a:lstStyle/>
          <a:p>
            <a:pPr algn="ctr"/>
            <a:r>
              <a:rPr lang="en-US" sz="5400" b="1" dirty="0" smtClean="0">
                <a:solidFill>
                  <a:schemeClr val="tx1"/>
                </a:solidFill>
              </a:rPr>
              <a:t>Thank you</a:t>
            </a:r>
            <a:endParaRPr lang="en-US" sz="5400" b="1" dirty="0">
              <a:solidFill>
                <a:schemeClr val="tx1"/>
              </a:solidFill>
            </a:endParaRP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xmlns=""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620</TotalTime>
  <Words>367</Words>
  <Application>Microsoft Office PowerPoint</Application>
  <PresentationFormat>Custom</PresentationFormat>
  <Paragraphs>39</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Facet</vt:lpstr>
      <vt:lpstr>Doctor Visits Analysis</vt:lpstr>
      <vt:lpstr>PROBLEM  STATEMENT</vt:lpstr>
      <vt:lpstr>Project Description  </vt:lpstr>
      <vt:lpstr>WHO ARE THE END USERS?</vt:lpstr>
      <vt:lpstr>Technology Used</vt:lpstr>
      <vt:lpstr>RESULTS </vt:lpstr>
      <vt:lpstr>RESULTS </vt:lpstr>
      <vt:lpstr>RESULTS </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Muthukumaran E</cp:lastModifiedBy>
  <cp:revision>82</cp:revision>
  <dcterms:created xsi:type="dcterms:W3CDTF">2021-07-11T13:13:15Z</dcterms:created>
  <dcterms:modified xsi:type="dcterms:W3CDTF">2024-11-17T06:59:27Z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