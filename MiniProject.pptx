
<file path=[Content_Types].xml><?xml version="1.0" encoding="utf-8"?>
<Types xmlns="http://schemas.openxmlformats.org/package/2006/content-types">
  <Override PartName="/customXml/itemProps3.xml" ContentType="application/vnd.openxmlformats-officedocument.customXmlProperties+xml"/>
  <Override PartName="/ppt/slides/slide6.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revisionInfo.xml" ContentType="application/vnd.ms-powerpoint.revisioninfo+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docProps/custom.xml" ContentType="application/vnd.openxmlformats-officedocument.custom-properties+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customXml/itemProps2.xml" ContentType="application/vnd.openxmlformats-officedocument.customXmlProperties+xml"/>
  <Override PartName="/ppt/slides/slide5.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4"/>
  </p:notesMasterIdLst>
  <p:handoutMasterIdLst>
    <p:handoutMasterId r:id="rId15"/>
  </p:handoutMasterIdLst>
  <p:sldIdLst>
    <p:sldId id="338" r:id="rId5"/>
    <p:sldId id="327" r:id="rId6"/>
    <p:sldId id="315" r:id="rId7"/>
    <p:sldId id="329" r:id="rId8"/>
    <p:sldId id="302" r:id="rId9"/>
    <p:sldId id="339" r:id="rId10"/>
    <p:sldId id="340" r:id="rId11"/>
    <p:sldId id="341" r:id="rId12"/>
    <p:sldId id="304"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clrMru>
    <a:srgbClr val="D9D9D9"/>
  </p:clrMru>
  <p:extLst>
    <p:ext uri="{E76CE94A-603C-4142-B9EB-6D1370010A27}">
      <p14:discardImageEditData xmlns:p14="http://schemas.microsoft.com/office/powerpoint/2010/main" xmlns="" val="0"/>
    </p:ext>
    <p:ext uri="{D31A062A-798A-4329-ABDD-BBA856620510}">
      <p14:defaultImageDpi xmlns:p14="http://schemas.microsoft.com/office/powerpoint/2010/main" xmlns="" val="32767"/>
    </p:ext>
    <p:ext uri="{FD5EFAAD-0ECE-453E-9831-46B23BE46B34}">
      <p15:chartTrackingRefBased xmlns:p15="http://schemas.microsoft.com/office/powerpoint/2012/main" xmlns=""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D67BBC5-90FB-0B4C-ED85-F72C7BA7CE4A}" v="1" dt="2022-06-06T12:10:26.221"/>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horzBarState="maximized">
    <p:restoredLeft sz="16571" autoAdjust="0"/>
    <p:restoredTop sz="95033" autoAdjust="0"/>
  </p:normalViewPr>
  <p:slideViewPr>
    <p:cSldViewPr snapToGrid="0">
      <p:cViewPr varScale="1">
        <p:scale>
          <a:sx n="69" d="100"/>
          <a:sy n="69" d="100"/>
        </p:scale>
        <p:origin x="-500" y="-68"/>
      </p:cViewPr>
      <p:guideLst>
        <p:guide orient="horz" pos="1968"/>
        <p:guide orient="horz" pos="3912"/>
        <p:guide orient="horz" pos="1656"/>
        <p:guide pos="408"/>
        <p:guide pos="7272"/>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 Id="rId22" Type="http://schemas.microsoft.com/office/2015/10/relationships/revisionInfo" Target="revisionInfo.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xmlns=""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xmlns=""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pPr/>
              <a:t>10/27/2024</a:t>
            </a:fld>
            <a:endParaRPr lang="en-US" dirty="0"/>
          </a:p>
        </p:txBody>
      </p:sp>
      <p:sp>
        <p:nvSpPr>
          <p:cNvPr id="4" name="Footer Placeholder 3">
            <a:extLst>
              <a:ext uri="{FF2B5EF4-FFF2-40B4-BE49-F238E27FC236}">
                <a16:creationId xmlns:a16="http://schemas.microsoft.com/office/drawing/2014/main" xmlns=""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xmlns=""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pPr/>
              <a:t>‹#›</a:t>
            </a:fld>
            <a:endParaRPr lang="en-US" dirty="0"/>
          </a:p>
        </p:txBody>
      </p:sp>
    </p:spTree>
    <p:extLst>
      <p:ext uri="{BB962C8B-B14F-4D97-AF65-F5344CB8AC3E}">
        <p14:creationId xmlns:p14="http://schemas.microsoft.com/office/powerpoint/2010/main" xmlns=""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pPr/>
              <a:t>10/27/2024</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pPr/>
              <a:t>‹#›</a:t>
            </a:fld>
            <a:endParaRPr lang="en-US" noProof="0" dirty="0"/>
          </a:p>
        </p:txBody>
      </p:sp>
    </p:spTree>
    <p:extLst>
      <p:ext uri="{BB962C8B-B14F-4D97-AF65-F5344CB8AC3E}">
        <p14:creationId xmlns:p14="http://schemas.microsoft.com/office/powerpoint/2010/main" xmlns=""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pPr/>
              <a:t>5</a:t>
            </a:fld>
            <a:endParaRPr lang="en-US" noProof="0" dirty="0"/>
          </a:p>
        </p:txBody>
      </p:sp>
    </p:spTree>
    <p:extLst>
      <p:ext uri="{BB962C8B-B14F-4D97-AF65-F5344CB8AC3E}">
        <p14:creationId xmlns:p14="http://schemas.microsoft.com/office/powerpoint/2010/main" xmlns=""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10/27/2024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xmlns=""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10/27/2024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xmlns=""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10/27/2024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xmlns=""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pPr/>
              <a:t>10/27/2024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pPr/>
              <a:t>‹#›</a:t>
            </a:fld>
            <a:endParaRPr lang="en-US" dirty="0"/>
          </a:p>
        </p:txBody>
      </p:sp>
    </p:spTree>
    <p:extLst>
      <p:ext uri="{BB962C8B-B14F-4D97-AF65-F5344CB8AC3E}">
        <p14:creationId xmlns:p14="http://schemas.microsoft.com/office/powerpoint/2010/main" xmlns=""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10/27/2024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xmlns=""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10/27/2024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xmlns=""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10/27/2024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xmlns=""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pPr/>
              <a:t>10/27/2024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pPr/>
              <a:t>‹#›</a:t>
            </a:fld>
            <a:endParaRPr lang="en-US" dirty="0"/>
          </a:p>
        </p:txBody>
      </p:sp>
    </p:spTree>
    <p:extLst>
      <p:ext uri="{BB962C8B-B14F-4D97-AF65-F5344CB8AC3E}">
        <p14:creationId xmlns:p14="http://schemas.microsoft.com/office/powerpoint/2010/main" xmlns=""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10/27/2024</a:t>
            </a:fld>
            <a:endParaRPr lang="en-US" dirty="0"/>
          </a:p>
        </p:txBody>
      </p:sp>
    </p:spTree>
    <p:extLst>
      <p:ext uri="{BB962C8B-B14F-4D97-AF65-F5344CB8AC3E}">
        <p14:creationId xmlns:p14="http://schemas.microsoft.com/office/powerpoint/2010/main" xmlns=""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10/27/2024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xmlns=""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10/27/2024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xmlns=""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10/27/2024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xmlns=""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10/27/2024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xmlns=""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10/27/2024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xmlns=""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pPr/>
              <a:t>10/27/2024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pPr/>
              <a:t>‹#›</a:t>
            </a:fld>
            <a:endParaRPr lang="en-US" dirty="0"/>
          </a:p>
        </p:txBody>
      </p:sp>
    </p:spTree>
    <p:extLst>
      <p:ext uri="{BB962C8B-B14F-4D97-AF65-F5344CB8AC3E}">
        <p14:creationId xmlns:p14="http://schemas.microsoft.com/office/powerpoint/2010/main" xmlns=""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10/27/2024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xmlns=""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xmlns=""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xmlns=""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xmlns=""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xmlns=""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xmlns=""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xmlns=""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xmlns=""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xmlns="" val="1409194673"/>
      </p:ext>
    </p:extLst>
  </p:cSld>
  <p:clrMapOvr>
    <a:masterClrMapping/>
  </p:clrMapOvr>
  <p:extLst>
    <p:ext uri="{DCECCB84-F9BA-43D5-87BE-67443E8EF086}">
      <p15:sldGuideLst xmlns:p15="http://schemas.microsoft.com/office/powerpoint/2012/main" xmlns="">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xmlns=""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xmlns=""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xmlns=""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xmlns=""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xmlns=""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xmlns=""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xmlns="" val="75139580"/>
      </p:ext>
    </p:extLst>
  </p:cSld>
  <p:clrMapOvr>
    <a:masterClrMapping/>
  </p:clrMapOvr>
  <p:extLst>
    <p:ext uri="{DCECCB84-F9BA-43D5-87BE-67443E8EF086}">
      <p15:sldGuideLst xmlns:p15="http://schemas.microsoft.com/office/powerpoint/2012/main" xmlns="">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xmlns=""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xmlns=""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xmlns=""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xmlns=""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xmlns=""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xmlns=""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xmlns="" val="1591254852"/>
      </p:ext>
    </p:extLst>
  </p:cSld>
  <p:clrMapOvr>
    <a:masterClrMapping/>
  </p:clrMapOvr>
  <p:extLst>
    <p:ext uri="{DCECCB84-F9BA-43D5-87BE-67443E8EF086}">
      <p15:sldGuideLst xmlns:p15="http://schemas.microsoft.com/office/powerpoint/2012/main" xmlns="">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xmlns=""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xmlns=""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xmlns=""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xmlns=""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xmlns=""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xmlns=""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xmlns=""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xmlns=""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xmlns=""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xmlns=""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xmlns=""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xmlns=""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xmlns=""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xmlns=""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xmlns=""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xmlns=""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xmlns=""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xmlns=""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xmlns=""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xmlns="" val="1795884839"/>
      </p:ext>
    </p:extLst>
  </p:cSld>
  <p:clrMapOvr>
    <a:masterClrMapping/>
  </p:clrMapOvr>
  <p:extLst>
    <p:ext uri="{DCECCB84-F9BA-43D5-87BE-67443E8EF086}">
      <p15:sldGuideLst xmlns:p15="http://schemas.microsoft.com/office/powerpoint/2012/main" xmlns="">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xmlns=""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xmlns=""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xmlns=""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xmlns=""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xmlns=""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10/27/2024</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xmlns=""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10/27/2024</a:t>
            </a:fld>
            <a:endParaRPr lang="en-US" sz="1100" dirty="0">
              <a:solidFill>
                <a:schemeClr val="accent2"/>
              </a:solidFill>
            </a:endParaRPr>
          </a:p>
        </p:txBody>
      </p:sp>
      <p:sp>
        <p:nvSpPr>
          <p:cNvPr id="29" name="Footer Placeholder 4">
            <a:extLst>
              <a:ext uri="{FF2B5EF4-FFF2-40B4-BE49-F238E27FC236}">
                <a16:creationId xmlns:a16="http://schemas.microsoft.com/office/drawing/2014/main" xmlns=""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xmlns=""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xmlns=""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xmlns=""/>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peg"/><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peg"/><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xmlns="" id="{7201737A-B873-4D1D-8A41-5ABF5184BC8F}"/>
              </a:ext>
            </a:extLst>
          </p:cNvPr>
          <p:cNvSpPr>
            <a:spLocks noGrp="1"/>
          </p:cNvSpPr>
          <p:nvPr>
            <p:ph type="body" sz="quarter" idx="11"/>
          </p:nvPr>
        </p:nvSpPr>
        <p:spPr>
          <a:xfrm>
            <a:off x="6913236" y="4414981"/>
            <a:ext cx="3400089" cy="1773382"/>
          </a:xfrm>
        </p:spPr>
        <p:txBody>
          <a:bodyPr>
            <a:noAutofit/>
          </a:bodyPr>
          <a:lstStyle/>
          <a:p>
            <a:r>
              <a:rPr lang="en-US" sz="1400" b="0" dirty="0" smtClean="0">
                <a:solidFill>
                  <a:schemeClr val="tx1"/>
                </a:solidFill>
              </a:rPr>
              <a:t>MUTHUKUMARAN </a:t>
            </a:r>
            <a:r>
              <a:rPr lang="en-US" sz="1400" b="0" dirty="0" smtClean="0">
                <a:solidFill>
                  <a:schemeClr val="tx1"/>
                </a:solidFill>
              </a:rPr>
              <a:t>E</a:t>
            </a:r>
          </a:p>
          <a:p>
            <a:r>
              <a:rPr lang="en-US" sz="1400" b="0" dirty="0" smtClean="0"/>
              <a:t>STU65b8f32f89f4f1706619695</a:t>
            </a:r>
            <a:r>
              <a:rPr lang="en-US" sz="1400" b="0" dirty="0" smtClean="0">
                <a:solidFill>
                  <a:schemeClr val="tx1"/>
                </a:solidFill>
              </a:rPr>
              <a:t> </a:t>
            </a:r>
            <a:endParaRPr lang="en-IN" sz="1400" b="0" dirty="0" smtClean="0">
              <a:solidFill>
                <a:schemeClr val="tx1"/>
              </a:solidFill>
            </a:endParaRPr>
          </a:p>
          <a:p>
            <a:r>
              <a:rPr lang="en-IN" sz="1400" b="0" dirty="0" smtClean="0">
                <a:solidFill>
                  <a:schemeClr val="tx1"/>
                </a:solidFill>
              </a:rPr>
              <a:t>PERIYAR UNIVERSITY</a:t>
            </a:r>
          </a:p>
          <a:p>
            <a:r>
              <a:rPr lang="en-IN" sz="1400" b="0" dirty="0" smtClean="0">
                <a:solidFill>
                  <a:schemeClr val="tx1"/>
                </a:solidFill>
              </a:rPr>
              <a:t>DEPARTMENT OF STATISTICS</a:t>
            </a:r>
          </a:p>
          <a:p>
            <a:r>
              <a:rPr lang="en-IN" sz="1400" b="0" dirty="0" smtClean="0">
                <a:solidFill>
                  <a:schemeClr val="tx1"/>
                </a:solidFill>
              </a:rPr>
              <a:t>II.M.SC.STATISTICS</a:t>
            </a:r>
          </a:p>
          <a:p>
            <a:endParaRPr lang="en-US" sz="1400" b="0" dirty="0" smtClean="0">
              <a:solidFill>
                <a:schemeClr val="tx1"/>
              </a:solidFill>
            </a:endParaRPr>
          </a:p>
        </p:txBody>
      </p:sp>
      <p:sp>
        <p:nvSpPr>
          <p:cNvPr id="4" name="Title 3">
            <a:extLst>
              <a:ext uri="{FF2B5EF4-FFF2-40B4-BE49-F238E27FC236}">
                <a16:creationId xmlns:a16="http://schemas.microsoft.com/office/drawing/2014/main" xmlns="" id="{92056599-CDAA-4367-BEF8-31D6E32518C8}"/>
              </a:ext>
            </a:extLst>
          </p:cNvPr>
          <p:cNvSpPr>
            <a:spLocks noGrp="1"/>
          </p:cNvSpPr>
          <p:nvPr>
            <p:ph type="title"/>
          </p:nvPr>
        </p:nvSpPr>
        <p:spPr>
          <a:xfrm>
            <a:off x="4442692" y="2059709"/>
            <a:ext cx="7167418" cy="1477818"/>
          </a:xfrm>
        </p:spPr>
        <p:txBody>
          <a:bodyPr>
            <a:normAutofit/>
          </a:bodyPr>
          <a:lstStyle/>
          <a:p>
            <a:pPr algn="ctr"/>
            <a:r>
              <a:rPr lang="en-US" sz="3200" dirty="0" smtClean="0"/>
              <a:t> </a:t>
            </a:r>
            <a:r>
              <a:rPr lang="en-US" sz="3200" dirty="0" smtClean="0"/>
              <a:t>Sales and Profit Analysis for a Superstore</a:t>
            </a:r>
            <a:endParaRPr lang="en-IN" sz="3200" dirty="0"/>
          </a:p>
        </p:txBody>
      </p:sp>
      <p:sp>
        <p:nvSpPr>
          <p:cNvPr id="15" name="Text Placeholder 1">
            <a:extLst>
              <a:ext uri="{FF2B5EF4-FFF2-40B4-BE49-F238E27FC236}">
                <a16:creationId xmlns:a16="http://schemas.microsoft.com/office/drawing/2014/main" xmlns=""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xmlns=""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xmlns=""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4" presetClass="entr" presetSubtype="10" fill="hold" grpId="0" nodeType="clickEffect">
                                  <p:stCondLst>
                                    <p:cond delay="0"/>
                                  </p:stCondLst>
                                  <p:childTnLst>
                                    <p:set>
                                      <p:cBhvr>
                                        <p:cTn id="41" dur="1" fill="hold">
                                          <p:stCondLst>
                                            <p:cond delay="0"/>
                                          </p:stCondLst>
                                        </p:cTn>
                                        <p:tgtEl>
                                          <p:spTgt spid="2">
                                            <p:txEl>
                                              <p:pRg st="2" end="2"/>
                                            </p:txEl>
                                          </p:spTgt>
                                        </p:tgtEl>
                                        <p:attrNameLst>
                                          <p:attrName>style.visibility</p:attrName>
                                        </p:attrNameLst>
                                      </p:cBhvr>
                                      <p:to>
                                        <p:strVal val="visible"/>
                                      </p:to>
                                    </p:set>
                                    <p:animEffect transition="in" filter="randombar(horizontal)">
                                      <p:cBhvr>
                                        <p:cTn id="42" dur="500"/>
                                        <p:tgtEl>
                                          <p:spTgt spid="2">
                                            <p:txEl>
                                              <p:pRg st="2" end="2"/>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4" presetClass="entr" presetSubtype="10" fill="hold" grpId="0" nodeType="clickEffect">
                                  <p:stCondLst>
                                    <p:cond delay="0"/>
                                  </p:stCondLst>
                                  <p:childTnLst>
                                    <p:set>
                                      <p:cBhvr>
                                        <p:cTn id="46" dur="1" fill="hold">
                                          <p:stCondLst>
                                            <p:cond delay="0"/>
                                          </p:stCondLst>
                                        </p:cTn>
                                        <p:tgtEl>
                                          <p:spTgt spid="2">
                                            <p:txEl>
                                              <p:pRg st="3" end="3"/>
                                            </p:txEl>
                                          </p:spTgt>
                                        </p:tgtEl>
                                        <p:attrNameLst>
                                          <p:attrName>style.visibility</p:attrName>
                                        </p:attrNameLst>
                                      </p:cBhvr>
                                      <p:to>
                                        <p:strVal val="visible"/>
                                      </p:to>
                                    </p:set>
                                    <p:animEffect transition="in" filter="randombar(horizontal)">
                                      <p:cBhvr>
                                        <p:cTn id="47" dur="500"/>
                                        <p:tgtEl>
                                          <p:spTgt spid="2">
                                            <p:txEl>
                                              <p:pRg st="3" end="3"/>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4" presetClass="entr" presetSubtype="10" fill="hold" grpId="0" nodeType="clickEffect">
                                  <p:stCondLst>
                                    <p:cond delay="0"/>
                                  </p:stCondLst>
                                  <p:childTnLst>
                                    <p:set>
                                      <p:cBhvr>
                                        <p:cTn id="51" dur="1" fill="hold">
                                          <p:stCondLst>
                                            <p:cond delay="0"/>
                                          </p:stCondLst>
                                        </p:cTn>
                                        <p:tgtEl>
                                          <p:spTgt spid="2">
                                            <p:txEl>
                                              <p:pRg st="4" end="4"/>
                                            </p:txEl>
                                          </p:spTgt>
                                        </p:tgtEl>
                                        <p:attrNameLst>
                                          <p:attrName>style.visibility</p:attrName>
                                        </p:attrNameLst>
                                      </p:cBhvr>
                                      <p:to>
                                        <p:strVal val="visible"/>
                                      </p:to>
                                    </p:set>
                                    <p:animEffect transition="in" filter="randombar(horizontal)">
                                      <p:cBhvr>
                                        <p:cTn id="52" dur="500"/>
                                        <p:tgtEl>
                                          <p:spTgt spid="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xmlns="" id="{E46E4DD1-270B-4C80-AFF0-EB26F132AF36}"/>
              </a:ext>
            </a:extLst>
          </p:cNvPr>
          <p:cNvSpPr>
            <a:spLocks noGrp="1"/>
          </p:cNvSpPr>
          <p:nvPr>
            <p:ph type="body" sz="quarter" idx="12"/>
          </p:nvPr>
        </p:nvSpPr>
        <p:spPr>
          <a:xfrm>
            <a:off x="1046480" y="1875556"/>
            <a:ext cx="6431280" cy="3607987"/>
          </a:xfrm>
        </p:spPr>
        <p:txBody>
          <a:bodyPr>
            <a:normAutofit fontScale="70000" lnSpcReduction="20000"/>
          </a:bodyPr>
          <a:lstStyle/>
          <a:p>
            <a:pPr algn="just"/>
            <a:r>
              <a:rPr lang="en-US" sz="2800" dirty="0" smtClean="0"/>
              <a:t>The goal of this project is to analyze sales performance and profit trends across various regions, product categories, and segments. The company aims to identify areas for improvement and opportunities to maximize profits.</a:t>
            </a:r>
          </a:p>
          <a:p>
            <a:pPr algn="just"/>
            <a:r>
              <a:rPr lang="en-US" sz="2800" b="1" dirty="0" smtClean="0"/>
              <a:t>Key Questions:</a:t>
            </a:r>
            <a:endParaRPr lang="en-US" sz="2800" dirty="0" smtClean="0"/>
          </a:p>
          <a:p>
            <a:pPr algn="just"/>
            <a:r>
              <a:rPr lang="en-US" sz="2800" dirty="0" smtClean="0"/>
              <a:t>Which product categories and sub-categories generate the most profit?</a:t>
            </a:r>
          </a:p>
          <a:p>
            <a:pPr algn="just"/>
            <a:r>
              <a:rPr lang="en-US" sz="2800" dirty="0" smtClean="0"/>
              <a:t>How do sales and profit vary by region and customer segments?</a:t>
            </a:r>
          </a:p>
          <a:p>
            <a:pPr algn="just"/>
            <a:r>
              <a:rPr lang="en-US" sz="2800" dirty="0" smtClean="0"/>
              <a:t>Are there any significant trends in shipping modes affecting profits?</a:t>
            </a:r>
          </a:p>
          <a:p>
            <a:pPr>
              <a:lnSpc>
                <a:spcPct val="150000"/>
              </a:lnSpc>
            </a:pPr>
            <a:endParaRPr lang="en-IN" sz="2800" dirty="0"/>
          </a:p>
        </p:txBody>
      </p:sp>
      <p:sp>
        <p:nvSpPr>
          <p:cNvPr id="4" name="Title 3">
            <a:extLst>
              <a:ext uri="{FF2B5EF4-FFF2-40B4-BE49-F238E27FC236}">
                <a16:creationId xmlns:a16="http://schemas.microsoft.com/office/drawing/2014/main" xmlns=""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xmlns=""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xmlns=""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xmlns=""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EBF2FBC7-3552-4F01-BB27-8BEEE74F7277}"/>
              </a:ext>
            </a:extLst>
          </p:cNvPr>
          <p:cNvSpPr>
            <a:spLocks noGrp="1"/>
          </p:cNvSpPr>
          <p:nvPr>
            <p:ph type="title"/>
          </p:nvPr>
        </p:nvSpPr>
        <p:spPr>
          <a:xfrm>
            <a:off x="660399" y="805213"/>
            <a:ext cx="6276109" cy="830997"/>
          </a:xfrm>
        </p:spPr>
        <p:txBody>
          <a:bodyPr>
            <a:normAutofit fontScale="90000"/>
          </a:bodyPr>
          <a:lstStyle/>
          <a:p>
            <a:r>
              <a:rPr lang="en-GB" dirty="0" smtClean="0"/>
              <a:t>Project Description</a:t>
            </a:r>
            <a:br>
              <a:rPr lang="en-GB" dirty="0" smtClean="0"/>
            </a:br>
            <a:r>
              <a:rPr lang="en-GB" dirty="0"/>
              <a:t/>
            </a:r>
            <a:br>
              <a:rPr lang="en-GB" dirty="0"/>
            </a:br>
            <a:endParaRPr lang="en-IN" dirty="0"/>
          </a:p>
        </p:txBody>
      </p:sp>
      <p:pic>
        <p:nvPicPr>
          <p:cNvPr id="5" name="Picture 4">
            <a:extLst>
              <a:ext uri="{FF2B5EF4-FFF2-40B4-BE49-F238E27FC236}">
                <a16:creationId xmlns:a16="http://schemas.microsoft.com/office/drawing/2014/main" xmlns=""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xmlns=""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7" name="TextBox 6"/>
          <p:cNvSpPr txBox="1"/>
          <p:nvPr/>
        </p:nvSpPr>
        <p:spPr>
          <a:xfrm>
            <a:off x="960582" y="1958110"/>
            <a:ext cx="6474691" cy="3970318"/>
          </a:xfrm>
          <a:prstGeom prst="rect">
            <a:avLst/>
          </a:prstGeom>
          <a:noFill/>
        </p:spPr>
        <p:txBody>
          <a:bodyPr wrap="square" rtlCol="0">
            <a:spAutoFit/>
          </a:bodyPr>
          <a:lstStyle/>
          <a:p>
            <a:pPr algn="just"/>
            <a:r>
              <a:rPr lang="en-US" dirty="0" smtClean="0"/>
              <a:t>This project focuses on performing an exploratory data analysis (EDA) using the superstore dataset to uncover insights into the store’s performance. The dataset includes information on sales, profits, categories, regions, and customer segments</a:t>
            </a:r>
            <a:r>
              <a:rPr lang="en-US" dirty="0" smtClean="0"/>
              <a:t>.</a:t>
            </a:r>
          </a:p>
          <a:p>
            <a:pPr algn="just"/>
            <a:endParaRPr lang="en-US" dirty="0" smtClean="0"/>
          </a:p>
          <a:p>
            <a:pPr algn="just"/>
            <a:r>
              <a:rPr lang="en-US" b="1" dirty="0" smtClean="0"/>
              <a:t>Steps Involved</a:t>
            </a:r>
            <a:r>
              <a:rPr lang="en-US" b="1" dirty="0" smtClean="0"/>
              <a:t>:</a:t>
            </a:r>
            <a:endParaRPr lang="en-US" b="1" dirty="0" smtClean="0"/>
          </a:p>
          <a:p>
            <a:pPr algn="just"/>
            <a:r>
              <a:rPr lang="en-US" b="1" dirty="0" smtClean="0"/>
              <a:t>Data Cleaning</a:t>
            </a:r>
            <a:r>
              <a:rPr lang="en-US" dirty="0" smtClean="0"/>
              <a:t>: Remove missing or duplicate entries and ensure data consistency.</a:t>
            </a:r>
          </a:p>
          <a:p>
            <a:pPr algn="just"/>
            <a:r>
              <a:rPr lang="en-US" b="1" dirty="0" smtClean="0"/>
              <a:t>Exploratory Data Analysis</a:t>
            </a:r>
            <a:r>
              <a:rPr lang="en-US" dirty="0" smtClean="0"/>
              <a:t>: Analyze relationships between sales, profit, categories, and regions.</a:t>
            </a:r>
          </a:p>
          <a:p>
            <a:pPr algn="just"/>
            <a:r>
              <a:rPr lang="en-US" b="1" dirty="0" smtClean="0"/>
              <a:t>Data Visualization</a:t>
            </a:r>
            <a:r>
              <a:rPr lang="en-US" dirty="0" smtClean="0"/>
              <a:t>: Use charts and graphs to present findings.</a:t>
            </a:r>
          </a:p>
          <a:p>
            <a:pPr algn="just"/>
            <a:endParaRPr lang="en-US" dirty="0"/>
          </a:p>
        </p:txBody>
      </p:sp>
    </p:spTree>
    <p:extLst>
      <p:ext uri="{BB962C8B-B14F-4D97-AF65-F5344CB8AC3E}">
        <p14:creationId xmlns:p14="http://schemas.microsoft.com/office/powerpoint/2010/main" xmlns=""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xmlns="" id="{664E3B60-2780-459A-8583-F095D5E7463A}"/>
              </a:ext>
            </a:extLst>
          </p:cNvPr>
          <p:cNvSpPr>
            <a:spLocks noGrp="1"/>
          </p:cNvSpPr>
          <p:nvPr>
            <p:ph type="body" sz="quarter" idx="12"/>
          </p:nvPr>
        </p:nvSpPr>
        <p:spPr>
          <a:xfrm>
            <a:off x="721359" y="1991360"/>
            <a:ext cx="7904481" cy="3990023"/>
          </a:xfrm>
        </p:spPr>
        <p:txBody>
          <a:bodyPr>
            <a:normAutofit fontScale="85000" lnSpcReduction="20000"/>
          </a:bodyPr>
          <a:lstStyle/>
          <a:p>
            <a:pPr algn="just">
              <a:lnSpc>
                <a:spcPct val="150000"/>
              </a:lnSpc>
            </a:pPr>
            <a:r>
              <a:rPr lang="en-US" sz="3600" b="1" dirty="0" smtClean="0"/>
              <a:t>Business Managers:</a:t>
            </a:r>
            <a:r>
              <a:rPr lang="en-US" sz="3600" dirty="0" smtClean="0"/>
              <a:t> To make informed decisions about product strategies</a:t>
            </a:r>
            <a:r>
              <a:rPr lang="en-US" sz="3600" dirty="0" smtClean="0"/>
              <a:t>.</a:t>
            </a:r>
          </a:p>
          <a:p>
            <a:pPr algn="just">
              <a:lnSpc>
                <a:spcPct val="150000"/>
              </a:lnSpc>
            </a:pPr>
            <a:r>
              <a:rPr lang="en-US" sz="3600" b="1" dirty="0" smtClean="0"/>
              <a:t>Regional </a:t>
            </a:r>
            <a:r>
              <a:rPr lang="en-US" sz="3600" b="1" dirty="0" smtClean="0"/>
              <a:t>Sales Teams:</a:t>
            </a:r>
            <a:r>
              <a:rPr lang="en-US" sz="3600" dirty="0" smtClean="0"/>
              <a:t> To understand performance trends by region</a:t>
            </a:r>
            <a:r>
              <a:rPr lang="en-US" sz="3600" dirty="0" smtClean="0"/>
              <a:t>.</a:t>
            </a:r>
          </a:p>
          <a:p>
            <a:pPr algn="just">
              <a:lnSpc>
                <a:spcPct val="150000"/>
              </a:lnSpc>
            </a:pPr>
            <a:r>
              <a:rPr lang="en-US" sz="3600" b="1" dirty="0" smtClean="0"/>
              <a:t>Marketing </a:t>
            </a:r>
            <a:r>
              <a:rPr lang="en-US" sz="3600" b="1" dirty="0" smtClean="0"/>
              <a:t>Teams:</a:t>
            </a:r>
            <a:r>
              <a:rPr lang="en-US" sz="3600" dirty="0" smtClean="0"/>
              <a:t> To target high-profit customer segments effectively.</a:t>
            </a:r>
            <a:endParaRPr lang="en-IN" sz="3600" dirty="0"/>
          </a:p>
        </p:txBody>
      </p:sp>
      <p:sp>
        <p:nvSpPr>
          <p:cNvPr id="4" name="Title 3">
            <a:extLst>
              <a:ext uri="{FF2B5EF4-FFF2-40B4-BE49-F238E27FC236}">
                <a16:creationId xmlns:a16="http://schemas.microsoft.com/office/drawing/2014/main" xmlns=""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xmlns=""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xmlns=""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xmlns=""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xmlns=""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xmlns="" id="{B21C28F5-3CA3-4B78-B5C9-550C00BB3174}"/>
              </a:ext>
            </a:extLst>
          </p:cNvPr>
          <p:cNvSpPr>
            <a:spLocks noGrp="1"/>
          </p:cNvSpPr>
          <p:nvPr>
            <p:ph type="body" sz="quarter" idx="12"/>
          </p:nvPr>
        </p:nvSpPr>
        <p:spPr>
          <a:xfrm>
            <a:off x="390618" y="1432560"/>
            <a:ext cx="9027702" cy="5243448"/>
          </a:xfrm>
        </p:spPr>
        <p:txBody>
          <a:bodyPr/>
          <a:lstStyle/>
          <a:p>
            <a:pPr lvl="1">
              <a:lnSpc>
                <a:spcPct val="150000"/>
              </a:lnSpc>
            </a:pPr>
            <a:r>
              <a:rPr lang="en-US" b="1" dirty="0" smtClean="0"/>
              <a:t>Python:</a:t>
            </a:r>
            <a:r>
              <a:rPr lang="en-US" dirty="0" smtClean="0"/>
              <a:t> Pandas, </a:t>
            </a:r>
            <a:r>
              <a:rPr lang="en-US" dirty="0" err="1" smtClean="0"/>
              <a:t>Matplotlib</a:t>
            </a:r>
            <a:r>
              <a:rPr lang="en-US" dirty="0" smtClean="0"/>
              <a:t>, </a:t>
            </a:r>
            <a:r>
              <a:rPr lang="en-US" dirty="0" err="1" smtClean="0"/>
              <a:t>Seaborn</a:t>
            </a:r>
            <a:r>
              <a:rPr lang="en-US" dirty="0" smtClean="0"/>
              <a:t> for data analysis and visualization</a:t>
            </a:r>
            <a:r>
              <a:rPr lang="en-US" dirty="0" smtClean="0"/>
              <a:t>.</a:t>
            </a:r>
          </a:p>
          <a:p>
            <a:pPr lvl="1">
              <a:lnSpc>
                <a:spcPct val="150000"/>
              </a:lnSpc>
            </a:pPr>
            <a:r>
              <a:rPr lang="en-US" b="1" dirty="0" err="1" smtClean="0"/>
              <a:t>Jupyter</a:t>
            </a:r>
            <a:r>
              <a:rPr lang="en-US" b="1" dirty="0" smtClean="0"/>
              <a:t> </a:t>
            </a:r>
            <a:r>
              <a:rPr lang="en-US" b="1" dirty="0" smtClean="0"/>
              <a:t>Notebook/Google </a:t>
            </a:r>
            <a:r>
              <a:rPr lang="en-US" b="1" dirty="0" err="1" smtClean="0"/>
              <a:t>Colab</a:t>
            </a:r>
            <a:r>
              <a:rPr lang="en-US" b="1" dirty="0" smtClean="0"/>
              <a:t>:</a:t>
            </a:r>
            <a:r>
              <a:rPr lang="en-US" dirty="0" smtClean="0"/>
              <a:t> For running the analysis</a:t>
            </a:r>
            <a:r>
              <a:rPr lang="en-US" dirty="0" smtClean="0"/>
              <a:t>.</a:t>
            </a:r>
          </a:p>
          <a:p>
            <a:pPr lvl="1">
              <a:lnSpc>
                <a:spcPct val="150000"/>
              </a:lnSpc>
            </a:pPr>
            <a:r>
              <a:rPr lang="en-US" b="1" dirty="0" smtClean="0"/>
              <a:t>Libraries</a:t>
            </a:r>
            <a:r>
              <a:rPr lang="en-US" b="1" dirty="0" smtClean="0"/>
              <a:t>:</a:t>
            </a:r>
            <a:r>
              <a:rPr lang="en-US" dirty="0" smtClean="0"/>
              <a:t> Pandas (for data handling), </a:t>
            </a:r>
            <a:r>
              <a:rPr lang="en-US" dirty="0" err="1" smtClean="0"/>
              <a:t>Seaborn</a:t>
            </a:r>
            <a:r>
              <a:rPr lang="en-US" dirty="0" smtClean="0"/>
              <a:t> &amp; </a:t>
            </a:r>
            <a:r>
              <a:rPr lang="en-US" dirty="0" err="1" smtClean="0"/>
              <a:t>Matplotlib</a:t>
            </a:r>
            <a:r>
              <a:rPr lang="en-US" dirty="0" smtClean="0"/>
              <a:t> (for </a:t>
            </a:r>
            <a:r>
              <a:rPr lang="en-US" dirty="0" smtClean="0"/>
              <a:t>  visualization</a:t>
            </a:r>
            <a:r>
              <a:rPr lang="en-US" dirty="0" smtClean="0"/>
              <a:t>).</a:t>
            </a:r>
            <a:endParaRPr lang="en-IN" dirty="0"/>
          </a:p>
        </p:txBody>
      </p:sp>
      <p:sp>
        <p:nvSpPr>
          <p:cNvPr id="9" name="Title 8">
            <a:extLst>
              <a:ext uri="{FF2B5EF4-FFF2-40B4-BE49-F238E27FC236}">
                <a16:creationId xmlns:a16="http://schemas.microsoft.com/office/drawing/2014/main" xmlns="" id="{FEF304F5-32C5-4869-B185-859B567855A8}"/>
              </a:ext>
            </a:extLst>
          </p:cNvPr>
          <p:cNvSpPr>
            <a:spLocks noGrp="1"/>
          </p:cNvSpPr>
          <p:nvPr>
            <p:ph type="title"/>
          </p:nvPr>
        </p:nvSpPr>
        <p:spPr>
          <a:xfrm>
            <a:off x="660399" y="430567"/>
            <a:ext cx="5306291" cy="847817"/>
          </a:xfrm>
        </p:spPr>
        <p:txBody>
          <a:bodyPr>
            <a:normAutofit/>
          </a:bodyPr>
          <a:lstStyle/>
          <a:p>
            <a:r>
              <a:rPr lang="en-US" dirty="0" smtClean="0"/>
              <a:t>Technology Used</a:t>
            </a:r>
            <a:endParaRPr lang="en-US" dirty="0"/>
          </a:p>
        </p:txBody>
      </p:sp>
    </p:spTree>
    <p:extLst>
      <p:ext uri="{BB962C8B-B14F-4D97-AF65-F5344CB8AC3E}">
        <p14:creationId xmlns:p14="http://schemas.microsoft.com/office/powerpoint/2010/main" xmlns=""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xmlns=""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xmlns=""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xmlns="" id="{E25373E9-1A26-4A40-9897-E42DE485D8E3}"/>
              </a:ext>
            </a:extLst>
          </p:cNvPr>
          <p:cNvSpPr txBox="1">
            <a:spLocks/>
          </p:cNvSpPr>
          <p:nvPr/>
        </p:nvSpPr>
        <p:spPr>
          <a:xfrm>
            <a:off x="422959" y="5737443"/>
            <a:ext cx="2981643"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a:t> </a:t>
            </a:r>
            <a:endParaRPr lang="en-IN" b="0" u="sng" dirty="0">
              <a:solidFill>
                <a:srgbClr val="0070C0"/>
              </a:solidFill>
            </a:endParaRPr>
          </a:p>
        </p:txBody>
      </p:sp>
      <p:sp>
        <p:nvSpPr>
          <p:cNvPr id="10" name="Text Placeholder 1">
            <a:extLst>
              <a:ext uri="{FF2B5EF4-FFF2-40B4-BE49-F238E27FC236}">
                <a16:creationId xmlns:a16="http://schemas.microsoft.com/office/drawing/2014/main" xmlns="" id="{B19D8AC7-3787-4ADB-9212-0808F015C2DD}"/>
              </a:ext>
            </a:extLst>
          </p:cNvPr>
          <p:cNvSpPr>
            <a:spLocks noGrp="1"/>
          </p:cNvSpPr>
          <p:nvPr>
            <p:ph type="body" sz="quarter" idx="12"/>
          </p:nvPr>
        </p:nvSpPr>
        <p:spPr>
          <a:xfrm>
            <a:off x="6465454" y="2586182"/>
            <a:ext cx="4331855" cy="2687782"/>
          </a:xfrm>
        </p:spPr>
        <p:txBody>
          <a:bodyPr>
            <a:normAutofit/>
          </a:bodyPr>
          <a:lstStyle/>
          <a:p>
            <a:pPr marL="0" indent="0" algn="just">
              <a:lnSpc>
                <a:spcPct val="110000"/>
              </a:lnSpc>
            </a:pPr>
            <a:r>
              <a:rPr lang="en-US" sz="1800" b="1" dirty="0" smtClean="0"/>
              <a:t>Technology Leads:</a:t>
            </a:r>
            <a:r>
              <a:rPr lang="en-US" sz="1800" dirty="0" smtClean="0"/>
              <a:t> Technology dominates in both sales and profit</a:t>
            </a:r>
            <a:r>
              <a:rPr lang="en-US" sz="1800" dirty="0" smtClean="0"/>
              <a:t>.</a:t>
            </a:r>
          </a:p>
          <a:p>
            <a:pPr marL="0" indent="0" algn="just">
              <a:lnSpc>
                <a:spcPct val="110000"/>
              </a:lnSpc>
            </a:pPr>
            <a:r>
              <a:rPr lang="en-US" sz="1800" dirty="0" smtClean="0"/>
              <a:t> </a:t>
            </a:r>
            <a:r>
              <a:rPr lang="en-US" sz="1800" b="1" dirty="0" smtClean="0"/>
              <a:t>Office Supplies </a:t>
            </a:r>
            <a:r>
              <a:rPr lang="en-US" sz="1800" b="1" dirty="0" smtClean="0"/>
              <a:t>Profitable</a:t>
            </a:r>
            <a:r>
              <a:rPr lang="en-US" sz="1800" b="1" dirty="0" smtClean="0"/>
              <a:t>:</a:t>
            </a:r>
            <a:r>
              <a:rPr lang="en-US" sz="1800" dirty="0" smtClean="0"/>
              <a:t> Office Supplies have higher profit margins</a:t>
            </a:r>
            <a:r>
              <a:rPr lang="en-US" sz="1800" dirty="0" smtClean="0"/>
              <a:t>.</a:t>
            </a:r>
          </a:p>
          <a:p>
            <a:pPr marL="0" indent="0" algn="just">
              <a:lnSpc>
                <a:spcPct val="110000"/>
              </a:lnSpc>
            </a:pPr>
            <a:r>
              <a:rPr lang="en-US" sz="1800" dirty="0" smtClean="0"/>
              <a:t> </a:t>
            </a:r>
            <a:r>
              <a:rPr lang="en-US" sz="1800" b="1" dirty="0" smtClean="0"/>
              <a:t>Furniture Struggles:</a:t>
            </a:r>
            <a:r>
              <a:rPr lang="en-US" sz="1800" dirty="0" smtClean="0"/>
              <a:t> Furniture lags in sales and profit.</a:t>
            </a:r>
            <a:endParaRPr lang="en-IN" sz="1800" dirty="0"/>
          </a:p>
        </p:txBody>
      </p:sp>
      <p:sp>
        <p:nvSpPr>
          <p:cNvPr id="11" name="TextBox 10"/>
          <p:cNvSpPr txBox="1"/>
          <p:nvPr/>
        </p:nvSpPr>
        <p:spPr>
          <a:xfrm>
            <a:off x="1015999" y="1422400"/>
            <a:ext cx="4544291" cy="369332"/>
          </a:xfrm>
          <a:prstGeom prst="rect">
            <a:avLst/>
          </a:prstGeom>
          <a:noFill/>
        </p:spPr>
        <p:txBody>
          <a:bodyPr wrap="square" rtlCol="0">
            <a:spAutoFit/>
          </a:bodyPr>
          <a:lstStyle/>
          <a:p>
            <a:r>
              <a:rPr lang="en-US" dirty="0" smtClean="0"/>
              <a:t>1. Sales </a:t>
            </a:r>
            <a:r>
              <a:rPr lang="en-US" dirty="0" err="1" smtClean="0"/>
              <a:t>vs</a:t>
            </a:r>
            <a:r>
              <a:rPr lang="en-US" dirty="0" smtClean="0"/>
              <a:t> Profit by Product Category</a:t>
            </a:r>
            <a:endParaRPr lang="en-US" dirty="0"/>
          </a:p>
        </p:txBody>
      </p:sp>
      <p:pic>
        <p:nvPicPr>
          <p:cNvPr id="13" name="Picture 12" descr="Screenshot (133).png"/>
          <p:cNvPicPr>
            <a:picLocks noChangeAspect="1"/>
          </p:cNvPicPr>
          <p:nvPr/>
        </p:nvPicPr>
        <p:blipFill>
          <a:blip r:embed="rId3"/>
          <a:stretch>
            <a:fillRect/>
          </a:stretch>
        </p:blipFill>
        <p:spPr>
          <a:xfrm>
            <a:off x="812801" y="2032000"/>
            <a:ext cx="5504873" cy="3943926"/>
          </a:xfrm>
          <a:prstGeom prst="rect">
            <a:avLst/>
          </a:prstGeom>
        </p:spPr>
      </p:pic>
    </p:spTree>
    <p:extLst>
      <p:ext uri="{BB962C8B-B14F-4D97-AF65-F5344CB8AC3E}">
        <p14:creationId xmlns:p14="http://schemas.microsoft.com/office/powerpoint/2010/main" xmlns=""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0">
                                            <p:txEl>
                                              <p:pRg st="1" end="1"/>
                                            </p:txEl>
                                          </p:spTgt>
                                        </p:tgtEl>
                                        <p:attrNameLst>
                                          <p:attrName>style.visibility</p:attrName>
                                        </p:attrNameLst>
                                      </p:cBhvr>
                                      <p:to>
                                        <p:strVal val="visible"/>
                                      </p:to>
                                    </p:set>
                                    <p:animEffect transition="in" filter="fade">
                                      <p:cBhvr>
                                        <p:cTn id="35" dur="1000"/>
                                        <p:tgtEl>
                                          <p:spTgt spid="10">
                                            <p:txEl>
                                              <p:pRg st="1" end="1"/>
                                            </p:txEl>
                                          </p:spTgt>
                                        </p:tgtEl>
                                      </p:cBhvr>
                                    </p:animEffect>
                                    <p:anim calcmode="lin" valueType="num">
                                      <p:cBhvr>
                                        <p:cTn id="36"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37" dur="1000" fill="hold"/>
                                        <p:tgtEl>
                                          <p:spTgt spid="10">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0">
                                            <p:txEl>
                                              <p:pRg st="2" end="2"/>
                                            </p:txEl>
                                          </p:spTgt>
                                        </p:tgtEl>
                                        <p:attrNameLst>
                                          <p:attrName>style.visibility</p:attrName>
                                        </p:attrNameLst>
                                      </p:cBhvr>
                                      <p:to>
                                        <p:strVal val="visible"/>
                                      </p:to>
                                    </p:set>
                                    <p:animEffect transition="in" filter="fade">
                                      <p:cBhvr>
                                        <p:cTn id="42" dur="1000"/>
                                        <p:tgtEl>
                                          <p:spTgt spid="10">
                                            <p:txEl>
                                              <p:pRg st="2" end="2"/>
                                            </p:txEl>
                                          </p:spTgt>
                                        </p:tgtEl>
                                      </p:cBhvr>
                                    </p:animEffect>
                                    <p:anim calcmode="lin" valueType="num">
                                      <p:cBhvr>
                                        <p:cTn id="43" dur="1000" fill="hold"/>
                                        <p:tgtEl>
                                          <p:spTgt spid="10">
                                            <p:txEl>
                                              <p:pRg st="2" end="2"/>
                                            </p:txEl>
                                          </p:spTgt>
                                        </p:tgtEl>
                                        <p:attrNameLst>
                                          <p:attrName>ppt_x</p:attrName>
                                        </p:attrNameLst>
                                      </p:cBhvr>
                                      <p:tavLst>
                                        <p:tav tm="0">
                                          <p:val>
                                            <p:strVal val="#ppt_x"/>
                                          </p:val>
                                        </p:tav>
                                        <p:tav tm="100000">
                                          <p:val>
                                            <p:strVal val="#ppt_x"/>
                                          </p:val>
                                        </p:tav>
                                      </p:tavLst>
                                    </p:anim>
                                    <p:anim calcmode="lin" valueType="num">
                                      <p:cBhvr>
                                        <p:cTn id="44" dur="1000" fill="hold"/>
                                        <p:tgtEl>
                                          <p:spTgt spid="10">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xmlns=""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AFE3A2AF-177E-45E6-A191-0F8523DB7FFA}"/>
              </a:ext>
            </a:extLst>
          </p:cNvPr>
          <p:cNvSpPr>
            <a:spLocks noGrp="1"/>
          </p:cNvSpPr>
          <p:nvPr>
            <p:ph type="title"/>
          </p:nvPr>
        </p:nvSpPr>
        <p:spPr>
          <a:xfrm>
            <a:off x="675957" y="370589"/>
            <a:ext cx="2981643" cy="830997"/>
          </a:xfrm>
        </p:spPr>
        <p:txBody>
          <a:bodyPr>
            <a:normAutofit/>
          </a:bodyPr>
          <a:lstStyle/>
          <a:p>
            <a:r>
              <a:rPr lang="en-GB" dirty="0" smtClean="0"/>
              <a:t>RESULTS </a:t>
            </a:r>
            <a:endParaRPr lang="en-IN" dirty="0"/>
          </a:p>
        </p:txBody>
      </p:sp>
      <p:sp>
        <p:nvSpPr>
          <p:cNvPr id="7" name="Text Placeholder 30">
            <a:extLst>
              <a:ext uri="{FF2B5EF4-FFF2-40B4-BE49-F238E27FC236}">
                <a16:creationId xmlns:a16="http://schemas.microsoft.com/office/drawing/2014/main" xmlns=""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xmlns="" id="{E25373E9-1A26-4A40-9897-E42DE485D8E3}"/>
              </a:ext>
            </a:extLst>
          </p:cNvPr>
          <p:cNvSpPr txBox="1">
            <a:spLocks/>
          </p:cNvSpPr>
          <p:nvPr/>
        </p:nvSpPr>
        <p:spPr>
          <a:xfrm>
            <a:off x="422959" y="5737443"/>
            <a:ext cx="2981643"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a:t> </a:t>
            </a:r>
            <a:endParaRPr lang="en-IN" b="0" u="sng" dirty="0">
              <a:solidFill>
                <a:srgbClr val="0070C0"/>
              </a:solidFill>
            </a:endParaRPr>
          </a:p>
        </p:txBody>
      </p:sp>
      <p:sp>
        <p:nvSpPr>
          <p:cNvPr id="10" name="Text Placeholder 1">
            <a:extLst>
              <a:ext uri="{FF2B5EF4-FFF2-40B4-BE49-F238E27FC236}">
                <a16:creationId xmlns:a16="http://schemas.microsoft.com/office/drawing/2014/main" xmlns="" id="{B19D8AC7-3787-4ADB-9212-0808F015C2DD}"/>
              </a:ext>
            </a:extLst>
          </p:cNvPr>
          <p:cNvSpPr>
            <a:spLocks noGrp="1"/>
          </p:cNvSpPr>
          <p:nvPr>
            <p:ph type="body" sz="quarter" idx="12"/>
          </p:nvPr>
        </p:nvSpPr>
        <p:spPr>
          <a:xfrm>
            <a:off x="6450583" y="2410689"/>
            <a:ext cx="3801781" cy="3214255"/>
          </a:xfrm>
        </p:spPr>
        <p:txBody>
          <a:bodyPr>
            <a:normAutofit/>
          </a:bodyPr>
          <a:lstStyle/>
          <a:p>
            <a:r>
              <a:rPr lang="en-US" sz="1800" dirty="0" smtClean="0"/>
              <a:t>The </a:t>
            </a:r>
            <a:r>
              <a:rPr lang="en-US" sz="1800" b="1" dirty="0" smtClean="0"/>
              <a:t>West and East regions</a:t>
            </a:r>
            <a:r>
              <a:rPr lang="en-US" sz="1800" dirty="0" smtClean="0"/>
              <a:t> are the most profitable, while the </a:t>
            </a:r>
            <a:r>
              <a:rPr lang="en-US" sz="1800" b="1" dirty="0" smtClean="0"/>
              <a:t>South</a:t>
            </a:r>
            <a:r>
              <a:rPr lang="en-US" sz="1800" dirty="0" smtClean="0"/>
              <a:t> region shows minimal profit, indicating an area for improvement</a:t>
            </a:r>
            <a:r>
              <a:rPr lang="en-US" sz="1800" dirty="0" smtClean="0"/>
              <a:t>.</a:t>
            </a:r>
          </a:p>
          <a:p>
            <a:r>
              <a:rPr lang="en-US" sz="1800" dirty="0" smtClean="0"/>
              <a:t>Marketing </a:t>
            </a:r>
            <a:r>
              <a:rPr lang="en-US" sz="1800" dirty="0" smtClean="0"/>
              <a:t>efforts or operational costs could be optimized in underperforming regions</a:t>
            </a:r>
            <a:r>
              <a:rPr lang="en-US" dirty="0" smtClean="0"/>
              <a:t>.</a:t>
            </a:r>
            <a:endParaRPr lang="en-IN" dirty="0"/>
          </a:p>
        </p:txBody>
      </p:sp>
      <p:sp>
        <p:nvSpPr>
          <p:cNvPr id="11" name="TextBox 10"/>
          <p:cNvSpPr txBox="1"/>
          <p:nvPr/>
        </p:nvSpPr>
        <p:spPr>
          <a:xfrm>
            <a:off x="812800" y="1450109"/>
            <a:ext cx="3020291" cy="369332"/>
          </a:xfrm>
          <a:prstGeom prst="rect">
            <a:avLst/>
          </a:prstGeom>
          <a:noFill/>
        </p:spPr>
        <p:txBody>
          <a:bodyPr wrap="square" rtlCol="0">
            <a:spAutoFit/>
          </a:bodyPr>
          <a:lstStyle/>
          <a:p>
            <a:r>
              <a:rPr lang="en-US" dirty="0" smtClean="0"/>
              <a:t>2. Profit by Region</a:t>
            </a:r>
            <a:endParaRPr lang="en-US" dirty="0"/>
          </a:p>
        </p:txBody>
      </p:sp>
      <p:pic>
        <p:nvPicPr>
          <p:cNvPr id="12" name="Picture 11" descr="Screenshot (134).png"/>
          <p:cNvPicPr>
            <a:picLocks noChangeAspect="1"/>
          </p:cNvPicPr>
          <p:nvPr/>
        </p:nvPicPr>
        <p:blipFill>
          <a:blip r:embed="rId3"/>
          <a:stretch>
            <a:fillRect/>
          </a:stretch>
        </p:blipFill>
        <p:spPr>
          <a:xfrm>
            <a:off x="960583" y="2368484"/>
            <a:ext cx="5375564" cy="3487372"/>
          </a:xfrm>
          <a:prstGeom prst="rect">
            <a:avLst/>
          </a:prstGeom>
        </p:spPr>
      </p:pic>
    </p:spTree>
    <p:extLst>
      <p:ext uri="{BB962C8B-B14F-4D97-AF65-F5344CB8AC3E}">
        <p14:creationId xmlns:p14="http://schemas.microsoft.com/office/powerpoint/2010/main" xmlns=""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0">
                                            <p:txEl>
                                              <p:pRg st="1" end="1"/>
                                            </p:txEl>
                                          </p:spTgt>
                                        </p:tgtEl>
                                        <p:attrNameLst>
                                          <p:attrName>style.visibility</p:attrName>
                                        </p:attrNameLst>
                                      </p:cBhvr>
                                      <p:to>
                                        <p:strVal val="visible"/>
                                      </p:to>
                                    </p:set>
                                    <p:animEffect transition="in" filter="fade">
                                      <p:cBhvr>
                                        <p:cTn id="35" dur="1000"/>
                                        <p:tgtEl>
                                          <p:spTgt spid="10">
                                            <p:txEl>
                                              <p:pRg st="1" end="1"/>
                                            </p:txEl>
                                          </p:spTgt>
                                        </p:tgtEl>
                                      </p:cBhvr>
                                    </p:animEffect>
                                    <p:anim calcmode="lin" valueType="num">
                                      <p:cBhvr>
                                        <p:cTn id="36"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37" dur="1000" fill="hold"/>
                                        <p:tgtEl>
                                          <p:spTgt spid="10">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xmlns=""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xmlns=""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xmlns="" id="{E25373E9-1A26-4A40-9897-E42DE485D8E3}"/>
              </a:ext>
            </a:extLst>
          </p:cNvPr>
          <p:cNvSpPr txBox="1">
            <a:spLocks/>
          </p:cNvSpPr>
          <p:nvPr/>
        </p:nvSpPr>
        <p:spPr>
          <a:xfrm>
            <a:off x="422959" y="5737443"/>
            <a:ext cx="2981643"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a:t> </a:t>
            </a:r>
            <a:endParaRPr lang="en-IN" b="0" u="sng" dirty="0">
              <a:solidFill>
                <a:srgbClr val="0070C0"/>
              </a:solidFill>
            </a:endParaRPr>
          </a:p>
        </p:txBody>
      </p:sp>
      <p:sp>
        <p:nvSpPr>
          <p:cNvPr id="10" name="Text Placeholder 1">
            <a:extLst>
              <a:ext uri="{FF2B5EF4-FFF2-40B4-BE49-F238E27FC236}">
                <a16:creationId xmlns:a16="http://schemas.microsoft.com/office/drawing/2014/main" xmlns="" id="{B19D8AC7-3787-4ADB-9212-0808F015C2DD}"/>
              </a:ext>
            </a:extLst>
          </p:cNvPr>
          <p:cNvSpPr>
            <a:spLocks noGrp="1"/>
          </p:cNvSpPr>
          <p:nvPr>
            <p:ph type="body" sz="quarter" idx="12"/>
          </p:nvPr>
        </p:nvSpPr>
        <p:spPr>
          <a:xfrm>
            <a:off x="6773854" y="2466109"/>
            <a:ext cx="4060401" cy="2974109"/>
          </a:xfrm>
        </p:spPr>
        <p:txBody>
          <a:bodyPr>
            <a:noAutofit/>
          </a:bodyPr>
          <a:lstStyle/>
          <a:p>
            <a:r>
              <a:rPr lang="en-US" sz="1800" b="1" dirty="0" smtClean="0"/>
              <a:t>Same Day and Second Class</a:t>
            </a:r>
            <a:r>
              <a:rPr lang="en-US" sz="1800" dirty="0" smtClean="0"/>
              <a:t> shipping modes show higher profits, indicating customers' willingness to pay for faster deliveries</a:t>
            </a:r>
            <a:r>
              <a:rPr lang="en-US" sz="1800" dirty="0" smtClean="0"/>
              <a:t>.</a:t>
            </a:r>
          </a:p>
          <a:p>
            <a:r>
              <a:rPr lang="en-US" sz="1800" b="1" dirty="0" smtClean="0"/>
              <a:t>Standard </a:t>
            </a:r>
            <a:r>
              <a:rPr lang="en-US" sz="1800" b="1" dirty="0" smtClean="0"/>
              <a:t>Class</a:t>
            </a:r>
            <a:r>
              <a:rPr lang="en-US" sz="1800" dirty="0" smtClean="0"/>
              <a:t> has lower profit margins, possibly due to higher operational costs.</a:t>
            </a:r>
            <a:endParaRPr lang="en-IN" sz="1800" dirty="0"/>
          </a:p>
        </p:txBody>
      </p:sp>
      <p:sp>
        <p:nvSpPr>
          <p:cNvPr id="11" name="TextBox 10"/>
          <p:cNvSpPr txBox="1"/>
          <p:nvPr/>
        </p:nvSpPr>
        <p:spPr>
          <a:xfrm>
            <a:off x="932872" y="1413163"/>
            <a:ext cx="3888509" cy="646331"/>
          </a:xfrm>
          <a:prstGeom prst="rect">
            <a:avLst/>
          </a:prstGeom>
          <a:noFill/>
        </p:spPr>
        <p:txBody>
          <a:bodyPr wrap="square" rtlCol="0">
            <a:spAutoFit/>
          </a:bodyPr>
          <a:lstStyle/>
          <a:p>
            <a:r>
              <a:rPr lang="en-US" dirty="0" smtClean="0"/>
              <a:t>3. Impact of Shipping Mode on Profit</a:t>
            </a:r>
            <a:endParaRPr lang="en-US" dirty="0"/>
          </a:p>
        </p:txBody>
      </p:sp>
      <p:pic>
        <p:nvPicPr>
          <p:cNvPr id="12" name="Picture 11" descr="Screenshot (136).png"/>
          <p:cNvPicPr>
            <a:picLocks noChangeAspect="1"/>
          </p:cNvPicPr>
          <p:nvPr/>
        </p:nvPicPr>
        <p:blipFill>
          <a:blip r:embed="rId3"/>
          <a:stretch>
            <a:fillRect/>
          </a:stretch>
        </p:blipFill>
        <p:spPr>
          <a:xfrm>
            <a:off x="794326" y="2179782"/>
            <a:ext cx="5551055" cy="3777671"/>
          </a:xfrm>
          <a:prstGeom prst="rect">
            <a:avLst/>
          </a:prstGeom>
        </p:spPr>
      </p:pic>
    </p:spTree>
    <p:extLst>
      <p:ext uri="{BB962C8B-B14F-4D97-AF65-F5344CB8AC3E}">
        <p14:creationId xmlns:p14="http://schemas.microsoft.com/office/powerpoint/2010/main" xmlns=""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0">
                                            <p:txEl>
                                              <p:pRg st="1" end="1"/>
                                            </p:txEl>
                                          </p:spTgt>
                                        </p:tgtEl>
                                        <p:attrNameLst>
                                          <p:attrName>style.visibility</p:attrName>
                                        </p:attrNameLst>
                                      </p:cBhvr>
                                      <p:to>
                                        <p:strVal val="visible"/>
                                      </p:to>
                                    </p:set>
                                    <p:animEffect transition="in" filter="fade">
                                      <p:cBhvr>
                                        <p:cTn id="35" dur="1000"/>
                                        <p:tgtEl>
                                          <p:spTgt spid="10">
                                            <p:txEl>
                                              <p:pRg st="1" end="1"/>
                                            </p:txEl>
                                          </p:spTgt>
                                        </p:tgtEl>
                                      </p:cBhvr>
                                    </p:animEffect>
                                    <p:anim calcmode="lin" valueType="num">
                                      <p:cBhvr>
                                        <p:cTn id="36"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37" dur="1000" fill="hold"/>
                                        <p:tgtEl>
                                          <p:spTgt spid="10">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xmlns="" id="{D88C20CF-C1EE-4092-B52D-FD4AB2AB2508}"/>
              </a:ext>
            </a:extLst>
          </p:cNvPr>
          <p:cNvSpPr>
            <a:spLocks noGrp="1"/>
          </p:cNvSpPr>
          <p:nvPr>
            <p:ph type="title"/>
          </p:nvPr>
        </p:nvSpPr>
        <p:spPr>
          <a:xfrm>
            <a:off x="304800" y="2661227"/>
            <a:ext cx="11340000" cy="700114"/>
          </a:xfrm>
          <a:prstGeom prst="rect">
            <a:avLst/>
          </a:prstGeom>
        </p:spPr>
        <p:txBody>
          <a:bodyPr anchor="ctr">
            <a:noAutofit/>
          </a:bodyPr>
          <a:lstStyle/>
          <a:p>
            <a:pPr algn="ctr"/>
            <a:r>
              <a:rPr lang="en-US" sz="4800" b="1" dirty="0" smtClean="0">
                <a:solidFill>
                  <a:schemeClr val="tx1"/>
                </a:solidFill>
              </a:rPr>
              <a:t>Thank You</a:t>
            </a:r>
            <a:endParaRPr lang="en-US" sz="4800" b="1" dirty="0">
              <a:solidFill>
                <a:schemeClr val="tx1"/>
              </a:solidFill>
            </a:endParaRPr>
          </a:p>
        </p:txBody>
      </p:sp>
      <p:sp>
        <p:nvSpPr>
          <p:cNvPr id="31" name="Text Placeholder 30">
            <a:extLst>
              <a:ext uri="{FF2B5EF4-FFF2-40B4-BE49-F238E27FC236}">
                <a16:creationId xmlns:a16="http://schemas.microsoft.com/office/drawing/2014/main" xmlns=""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xmlns=""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xmlns=""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xmlns=""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xmlns=""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xmlns=""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xmlns=""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xmlns="" id="{BC277FD7-925B-4C3D-A364-118403201507}"/>
              </a:ext>
            </a:extLst>
          </p:cNvPr>
          <p:cNvSpPr>
            <a:spLocks noGrp="1"/>
          </p:cNvSpPr>
          <p:nvPr>
            <p:ph type="body" sz="quarter" idx="12"/>
          </p:nvPr>
        </p:nvSpPr>
        <p:spPr>
          <a:xfrm>
            <a:off x="5302577" y="3611592"/>
            <a:ext cx="2139696" cy="344312"/>
          </a:xfrm>
        </p:spPr>
        <p:txBody>
          <a:bodyPr>
            <a:normAutofit fontScale="92500" lnSpcReduction="20000"/>
          </a:bodyPr>
          <a:lstStyle/>
          <a:p>
            <a:endParaRPr lang="en-IN" dirty="0"/>
          </a:p>
        </p:txBody>
      </p:sp>
    </p:spTree>
    <p:extLst>
      <p:ext uri="{BB962C8B-B14F-4D97-AF65-F5344CB8AC3E}">
        <p14:creationId xmlns:p14="http://schemas.microsoft.com/office/powerpoint/2010/main" xmlns=""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xmlns=""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619</TotalTime>
  <Words>392</Words>
  <Application>Microsoft Office PowerPoint</Application>
  <PresentationFormat>Custom</PresentationFormat>
  <Paragraphs>47</Paragraphs>
  <Slides>9</Slides>
  <Notes>1</Notes>
  <HiddenSlides>0</HiddenSlides>
  <MMClips>0</MMClip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Facet</vt:lpstr>
      <vt:lpstr> Sales and Profit Analysis for a Superstore</vt:lpstr>
      <vt:lpstr>PROBLEM  STATEMENT</vt:lpstr>
      <vt:lpstr>Project Description  </vt:lpstr>
      <vt:lpstr>WHO ARE THE END USERS?</vt:lpstr>
      <vt:lpstr>Technology Used</vt:lpstr>
      <vt:lpstr>RESULTS </vt:lpstr>
      <vt:lpstr>RESULTS </vt:lpstr>
      <vt:lpstr>RESULTS </vt:lpstr>
      <vt:lpstr>Thank You</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Muthukumaran E</cp:lastModifiedBy>
  <cp:revision>81</cp:revision>
  <dcterms:created xsi:type="dcterms:W3CDTF">2021-07-11T13:13:15Z</dcterms:created>
  <dcterms:modified xsi:type="dcterms:W3CDTF">2024-10-26T20:42:18Z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